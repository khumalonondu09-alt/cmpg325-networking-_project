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3" r:id="rId4"/>
    <p:sldId id="258" r:id="rId5"/>
    <p:sldId id="259" r:id="rId6"/>
    <p:sldId id="260" r:id="rId7"/>
    <p:sldId id="264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8F847E-E2B9-4453-AF14-50FE2286F1F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C7AC81-2F1B-45A7-843F-AB555C1DF2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287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C7AC81-2F1B-45A7-843F-AB555C1DF23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7593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C7AC81-2F1B-45A7-843F-AB555C1DF23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9022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C7AC81-2F1B-45A7-843F-AB555C1DF23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5871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C7AC81-2F1B-45A7-843F-AB555C1DF23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149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Dot 1"/>
          <p:cNvSpPr/>
          <p:nvPr/>
        </p:nvSpPr>
        <p:spPr>
          <a:xfrm>
            <a:off x="2680829" y="3462019"/>
            <a:ext cx="154890" cy="154890"/>
          </a:xfrm>
          <a:prstGeom prst="ellipse">
            <a:avLst/>
          </a:prstGeom>
          <a:solidFill>
            <a:srgbClr val="7FB8FF">
              <a:alpha val="45000"/>
            </a:srgb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Dot 2"/>
          <p:cNvSpPr/>
          <p:nvPr/>
        </p:nvSpPr>
        <p:spPr>
          <a:xfrm>
            <a:off x="1591955" y="3787683"/>
            <a:ext cx="79829" cy="79829"/>
          </a:xfrm>
          <a:prstGeom prst="ellipse">
            <a:avLst/>
          </a:prstGeom>
          <a:solidFill>
            <a:srgbClr val="5B9BFF">
              <a:alpha val="45000"/>
            </a:srgb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Dot 3"/>
          <p:cNvSpPr/>
          <p:nvPr/>
        </p:nvSpPr>
        <p:spPr>
          <a:xfrm>
            <a:off x="3895328" y="5440073"/>
            <a:ext cx="102453" cy="102453"/>
          </a:xfrm>
          <a:prstGeom prst="ellipse">
            <a:avLst/>
          </a:prstGeom>
          <a:solidFill>
            <a:srgbClr val="CFE4FF">
              <a:alpha val="45000"/>
            </a:srgb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Dot 4"/>
          <p:cNvSpPr/>
          <p:nvPr/>
        </p:nvSpPr>
        <p:spPr>
          <a:xfrm>
            <a:off x="7181986" y="1360099"/>
            <a:ext cx="145919" cy="145919"/>
          </a:xfrm>
          <a:prstGeom prst="ellipse">
            <a:avLst/>
          </a:prstGeom>
          <a:solidFill>
            <a:srgbClr val="CFE4FF">
              <a:alpha val="45000"/>
            </a:srgb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4" name="Dot 5"/>
          <p:cNvSpPr/>
          <p:nvPr/>
        </p:nvSpPr>
        <p:spPr>
          <a:xfrm>
            <a:off x="6397794" y="967306"/>
            <a:ext cx="119249" cy="119249"/>
          </a:xfrm>
          <a:prstGeom prst="ellipse">
            <a:avLst/>
          </a:prstGeom>
          <a:solidFill>
            <a:srgbClr val="CFE4FF">
              <a:alpha val="75000"/>
            </a:srgb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5" name="Dot 6"/>
          <p:cNvSpPr/>
          <p:nvPr/>
        </p:nvSpPr>
        <p:spPr>
          <a:xfrm>
            <a:off x="5420514" y="4055751"/>
            <a:ext cx="182090" cy="182090"/>
          </a:xfrm>
          <a:prstGeom prst="ellipse">
            <a:avLst/>
          </a:prstGeom>
          <a:solidFill>
            <a:srgbClr val="CFE4FF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6" name="Dot 7"/>
          <p:cNvSpPr/>
          <p:nvPr/>
        </p:nvSpPr>
        <p:spPr>
          <a:xfrm>
            <a:off x="9787230" y="2668672"/>
            <a:ext cx="91457" cy="91457"/>
          </a:xfrm>
          <a:prstGeom prst="ellipse">
            <a:avLst/>
          </a:prstGeom>
          <a:solidFill>
            <a:srgbClr val="CFE4FF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7" name="Dot 8"/>
          <p:cNvSpPr/>
          <p:nvPr/>
        </p:nvSpPr>
        <p:spPr>
          <a:xfrm>
            <a:off x="8738807" y="3657468"/>
            <a:ext cx="100950" cy="100950"/>
          </a:xfrm>
          <a:prstGeom prst="ellipse">
            <a:avLst/>
          </a:prstGeom>
          <a:solidFill>
            <a:srgbClr val="A9D0FF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8" name="Dot 9"/>
          <p:cNvSpPr/>
          <p:nvPr/>
        </p:nvSpPr>
        <p:spPr>
          <a:xfrm>
            <a:off x="9512957" y="4956889"/>
            <a:ext cx="90347" cy="90347"/>
          </a:xfrm>
          <a:prstGeom prst="ellipse">
            <a:avLst/>
          </a:prstGeom>
          <a:solidFill>
            <a:srgbClr val="45BED2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9" name="Dot 10"/>
          <p:cNvSpPr/>
          <p:nvPr/>
        </p:nvSpPr>
        <p:spPr>
          <a:xfrm>
            <a:off x="8104050" y="5997212"/>
            <a:ext cx="140762" cy="140762"/>
          </a:xfrm>
          <a:prstGeom prst="ellipse">
            <a:avLst/>
          </a:prstGeom>
          <a:solidFill>
            <a:srgbClr val="7FB8FF">
              <a:alpha val="45000"/>
            </a:srgb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0" name="Dot 11"/>
          <p:cNvSpPr/>
          <p:nvPr/>
        </p:nvSpPr>
        <p:spPr>
          <a:xfrm>
            <a:off x="528543" y="4022980"/>
            <a:ext cx="160965" cy="160965"/>
          </a:xfrm>
          <a:prstGeom prst="ellipse">
            <a:avLst/>
          </a:prstGeom>
          <a:solidFill>
            <a:srgbClr val="45BED2">
              <a:alpha val="45000"/>
            </a:srgb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1" name="Dot 12"/>
          <p:cNvSpPr/>
          <p:nvPr/>
        </p:nvSpPr>
        <p:spPr>
          <a:xfrm>
            <a:off x="6825615" y="3429523"/>
            <a:ext cx="134910" cy="134910"/>
          </a:xfrm>
          <a:prstGeom prst="ellipse">
            <a:avLst/>
          </a:prstGeom>
          <a:solidFill>
            <a:srgbClr val="5B9BFF">
              <a:alpha val="45000"/>
            </a:srgb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2" name="Dot 13"/>
          <p:cNvSpPr/>
          <p:nvPr/>
        </p:nvSpPr>
        <p:spPr>
          <a:xfrm>
            <a:off x="4821130" y="6075685"/>
            <a:ext cx="214236" cy="214236"/>
          </a:xfrm>
          <a:prstGeom prst="ellipse">
            <a:avLst/>
          </a:prstGeom>
          <a:solidFill>
            <a:srgbClr val="5B9BFF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3" name="Dot 14"/>
          <p:cNvSpPr/>
          <p:nvPr/>
        </p:nvSpPr>
        <p:spPr>
          <a:xfrm>
            <a:off x="11198076" y="2107364"/>
            <a:ext cx="130806" cy="130806"/>
          </a:xfrm>
          <a:prstGeom prst="ellipse">
            <a:avLst/>
          </a:prstGeom>
          <a:solidFill>
            <a:srgbClr val="7FB8FF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4" name="Dot 15"/>
          <p:cNvSpPr/>
          <p:nvPr/>
        </p:nvSpPr>
        <p:spPr>
          <a:xfrm>
            <a:off x="10380954" y="4900814"/>
            <a:ext cx="166797" cy="166797"/>
          </a:xfrm>
          <a:prstGeom prst="ellipse">
            <a:avLst/>
          </a:prstGeom>
          <a:solidFill>
            <a:srgbClr val="45BED2">
              <a:alpha val="45000"/>
            </a:srgb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5" name="Dot 16"/>
          <p:cNvSpPr/>
          <p:nvPr/>
        </p:nvSpPr>
        <p:spPr>
          <a:xfrm>
            <a:off x="8228612" y="5470806"/>
            <a:ext cx="97141" cy="97141"/>
          </a:xfrm>
          <a:prstGeom prst="ellipse">
            <a:avLst/>
          </a:prstGeom>
          <a:solidFill>
            <a:srgbClr val="5B9BFF">
              <a:alpha val="45000"/>
            </a:srgb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6" name="Dot 17"/>
          <p:cNvSpPr/>
          <p:nvPr/>
        </p:nvSpPr>
        <p:spPr>
          <a:xfrm>
            <a:off x="10228531" y="591036"/>
            <a:ext cx="159143" cy="159143"/>
          </a:xfrm>
          <a:prstGeom prst="ellipse">
            <a:avLst/>
          </a:prstGeom>
          <a:solidFill>
            <a:srgbClr val="7FB8FF">
              <a:alpha val="45000"/>
            </a:srgb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7" name="Dot 18"/>
          <p:cNvSpPr/>
          <p:nvPr/>
        </p:nvSpPr>
        <p:spPr>
          <a:xfrm>
            <a:off x="10452368" y="3306040"/>
            <a:ext cx="124513" cy="124513"/>
          </a:xfrm>
          <a:prstGeom prst="ellipse">
            <a:avLst/>
          </a:prstGeom>
          <a:solidFill>
            <a:srgbClr val="A9D0FF">
              <a:alpha val="75000"/>
            </a:srgb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8" name="Dot 19"/>
          <p:cNvSpPr/>
          <p:nvPr/>
        </p:nvSpPr>
        <p:spPr>
          <a:xfrm>
            <a:off x="7968005" y="4179846"/>
            <a:ext cx="197944" cy="197944"/>
          </a:xfrm>
          <a:prstGeom prst="ellipse">
            <a:avLst/>
          </a:prstGeom>
          <a:solidFill>
            <a:srgbClr val="5B9BFF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9" name="Dot 20"/>
          <p:cNvSpPr/>
          <p:nvPr/>
        </p:nvSpPr>
        <p:spPr>
          <a:xfrm>
            <a:off x="8812655" y="343740"/>
            <a:ext cx="112320" cy="112320"/>
          </a:xfrm>
          <a:prstGeom prst="ellipse">
            <a:avLst/>
          </a:prstGeom>
          <a:solidFill>
            <a:srgbClr val="A9D0FF">
              <a:alpha val="75000"/>
            </a:srgb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0" name="Dot 21"/>
          <p:cNvSpPr/>
          <p:nvPr/>
        </p:nvSpPr>
        <p:spPr>
          <a:xfrm>
            <a:off x="11830243" y="2340393"/>
            <a:ext cx="93857" cy="93857"/>
          </a:xfrm>
          <a:prstGeom prst="ellipse">
            <a:avLst/>
          </a:prstGeom>
          <a:solidFill>
            <a:srgbClr val="CFE4FF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1" name="Dot 22"/>
          <p:cNvSpPr/>
          <p:nvPr/>
        </p:nvSpPr>
        <p:spPr>
          <a:xfrm>
            <a:off x="10827723" y="2021009"/>
            <a:ext cx="156419" cy="156419"/>
          </a:xfrm>
          <a:prstGeom prst="ellipse">
            <a:avLst/>
          </a:prstGeom>
          <a:solidFill>
            <a:srgbClr val="CFE4FF">
              <a:alpha val="45000"/>
            </a:srgb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TextBox 1"/>
          <p:cNvSpPr txBox="1"/>
          <p:nvPr/>
        </p:nvSpPr>
        <p:spPr>
          <a:xfrm>
            <a:off x="219456" y="959444"/>
            <a:ext cx="8046720" cy="1052083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rPr lang="en-GB" dirty="0">
                <a:latin typeface="Amasis MT Pro Medium" panose="02040604050005020304" pitchFamily="18" charset="0"/>
              </a:rPr>
              <a:t>           </a:t>
            </a:r>
            <a:r>
              <a:rPr dirty="0">
                <a:latin typeface="Amasis MT Pro Medium" panose="02040604050005020304" pitchFamily="18" charset="0"/>
              </a:rPr>
              <a:t>CMPG325 NETWORK</a:t>
            </a:r>
          </a:p>
          <a:p>
            <a:pPr>
              <a:spcAft>
                <a:spcPts val="50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rPr lang="en-GB" dirty="0">
                <a:latin typeface="Amasis MT Pro Medium" panose="02040604050005020304" pitchFamily="18" charset="0"/>
              </a:rPr>
              <a:t>    </a:t>
            </a:r>
            <a:r>
              <a:rPr dirty="0">
                <a:latin typeface="Amasis MT Pro Medium" panose="02040604050005020304" pitchFamily="18" charset="0"/>
              </a:rPr>
              <a:t>IMPLEMENTATION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7772400" cy="387798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45BED2"/>
                </a:solidFill>
                <a:latin typeface="Arial"/>
              </a:defRPr>
            </a:pPr>
            <a:r>
              <a:rPr dirty="0">
                <a:solidFill>
                  <a:srgbClr val="00B0F0"/>
                </a:solidFill>
              </a:rPr>
              <a:t>Iketsetseng Private School | Mahikeng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8229600" cy="590418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C7D8E9"/>
                </a:solidFill>
                <a:latin typeface="Arial"/>
              </a:defRPr>
            </a:pPr>
            <a:r>
              <a:rPr b="1" dirty="0"/>
              <a:t>Project ID: CMPG325-2026-022   •   Client ID: CLI-022</a:t>
            </a:r>
            <a:endParaRPr lang="en-GB" b="1" dirty="0"/>
          </a:p>
          <a:p>
            <a:pPr>
              <a:spcAft>
                <a:spcPts val="500"/>
              </a:spcAft>
              <a:defRPr sz="1500" b="0">
                <a:solidFill>
                  <a:srgbClr val="C7D8E9"/>
                </a:solidFill>
                <a:latin typeface="Arial"/>
              </a:defRPr>
            </a:pPr>
            <a:r>
              <a:rPr lang="en-GB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Addressing block: 192.168.21.0/24</a:t>
            </a:r>
            <a:endParaRPr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28543" y="4873333"/>
            <a:ext cx="6675120" cy="977704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FFFFF"/>
                </a:solidFill>
                <a:latin typeface="Arial"/>
              </a:defRPr>
            </a:pPr>
            <a:r>
              <a:rPr lang="en-GB" b="1" dirty="0">
                <a:solidFill>
                  <a:srgbClr val="00B0F0"/>
                </a:solidFill>
                <a:latin typeface="Dreaming Outloud Pro" panose="020F0502020204030204" pitchFamily="66" charset="0"/>
                <a:cs typeface="Dreaming Outloud Pro" panose="020F0502020204030204" pitchFamily="66" charset="0"/>
              </a:rPr>
              <a:t>    </a:t>
            </a:r>
            <a:r>
              <a:rPr b="1" dirty="0">
                <a:solidFill>
                  <a:srgbClr val="00B0F0"/>
                </a:solidFill>
                <a:latin typeface="Dreaming Outloud Pro" panose="020F0502020204030204" pitchFamily="66" charset="0"/>
                <a:cs typeface="Dreaming Outloud Pro" panose="020F0502020204030204" pitchFamily="66" charset="0"/>
              </a:rPr>
              <a:t>Presented by:</a:t>
            </a:r>
            <a:r>
              <a:rPr lang="en-GB" b="1" dirty="0">
                <a:solidFill>
                  <a:srgbClr val="00B0F0"/>
                </a:solidFill>
                <a:latin typeface="Dreaming Outloud Pro" panose="020F0502020204030204" pitchFamily="66" charset="0"/>
                <a:cs typeface="Dreaming Outloud Pro" panose="020F0502020204030204" pitchFamily="66" charset="0"/>
              </a:rPr>
              <a:t> Miss N Khumalo</a:t>
            </a:r>
            <a:endParaRPr b="1" dirty="0">
              <a:solidFill>
                <a:srgbClr val="00B0F0"/>
              </a:solidFill>
              <a:latin typeface="Dreaming Outloud Pro" panose="020F0502020204030204" pitchFamily="66" charset="0"/>
              <a:cs typeface="Dreaming Outloud Pro" panose="020F0502020204030204" pitchFamily="66" charset="0"/>
            </a:endParaRPr>
          </a:p>
          <a:p>
            <a:pPr>
              <a:spcAft>
                <a:spcPts val="500"/>
              </a:spcAft>
              <a:defRPr sz="1700" b="0">
                <a:solidFill>
                  <a:srgbClr val="FFFFFF"/>
                </a:solidFill>
                <a:latin typeface="Arial"/>
              </a:defRPr>
            </a:pPr>
            <a:r>
              <a:rPr lang="en-GB" b="1" dirty="0">
                <a:solidFill>
                  <a:srgbClr val="00B0F0"/>
                </a:solidFill>
                <a:latin typeface="Dreaming Outloud Pro" panose="020F0502020204030204" pitchFamily="66" charset="0"/>
                <a:cs typeface="Dreaming Outloud Pro" panose="020F0502020204030204" pitchFamily="66" charset="0"/>
              </a:rPr>
              <a:t>    </a:t>
            </a:r>
            <a:r>
              <a:rPr b="1" dirty="0">
                <a:solidFill>
                  <a:srgbClr val="00B0F0"/>
                </a:solidFill>
                <a:latin typeface="Dreaming Outloud Pro" panose="020F0502020204030204" pitchFamily="66" charset="0"/>
                <a:cs typeface="Dreaming Outloud Pro" panose="020F0502020204030204" pitchFamily="66" charset="0"/>
              </a:rPr>
              <a:t>Student number: 42606152</a:t>
            </a:r>
            <a:endParaRPr lang="en-GB" b="1" dirty="0">
              <a:solidFill>
                <a:srgbClr val="00B0F0"/>
              </a:solidFill>
              <a:latin typeface="Dreaming Outloud Pro" panose="020F0502020204030204" pitchFamily="66" charset="0"/>
              <a:cs typeface="Dreaming Outloud Pro" panose="020F0502020204030204" pitchFamily="66" charset="0"/>
            </a:endParaRPr>
          </a:p>
          <a:p>
            <a:pPr algn="ctr">
              <a:spcAft>
                <a:spcPts val="500"/>
              </a:spcAft>
              <a:defRPr sz="1700" b="0">
                <a:solidFill>
                  <a:srgbClr val="FFFFFF"/>
                </a:solidFill>
                <a:latin typeface="Arial"/>
              </a:defRPr>
            </a:pPr>
            <a:endParaRPr b="1" dirty="0">
              <a:solidFill>
                <a:srgbClr val="00B0F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9144000" cy="23391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C7D8E9"/>
                </a:solidFill>
                <a:latin typeface="Arial"/>
              </a:defRPr>
            </a:pPr>
            <a:r>
              <a:rPr dirty="0"/>
              <a:t>WIRELESS SECURITY • VLAN SEGMENTATION • TESTING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346 -0.0846 E" pathEditMode="relative" rAng="0" ptsTypes="AA">
                                      <p:cBhvr>
                                        <p:cTn id="6" dur="4379" repeatCount="indefinite" autoRev="1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236 0.0335 E" pathEditMode="relative" rAng="0" ptsTypes="AA">
                                      <p:cBhvr>
                                        <p:cTn id="8" dur="5816" repeatCount="indefinite" autoRev="1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220 -0.0328 E" pathEditMode="relative" rAng="0" ptsTypes="AA">
                                      <p:cBhvr>
                                        <p:cTn id="10" dur="4045" repeatCount="indefinite" autoRev="1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424 -0.0362 E" pathEditMode="relative" rAng="0" ptsTypes="AA">
                                      <p:cBhvr>
                                        <p:cTn id="12" dur="5839" repeatCount="indefinite" autoRev="1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426 -0.0598 E" pathEditMode="relative" rAng="0" ptsTypes="AA">
                                      <p:cBhvr>
                                        <p:cTn id="14" dur="5677" repeatCount="indefinite" autoRev="1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20 -0.0719 E" pathEditMode="relative" rAng="0" ptsTypes="AA">
                                      <p:cBhvr>
                                        <p:cTn id="16" dur="4499" repeatCount="indefinite" autoRev="1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492 0.0665 E" pathEditMode="relative" rAng="0" ptsTypes="AA">
                                      <p:cBhvr>
                                        <p:cTn id="18" dur="3799" repeatCount="indefinite" autoRev="1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73 0.0324 E" pathEditMode="relative" rAng="0" ptsTypes="AA">
                                      <p:cBhvr>
                                        <p:cTn id="20" dur="6237" repeatCount="indefinite" autoRev="1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438 0.0341 E" pathEditMode="relative" rAng="0" ptsTypes="AA">
                                      <p:cBhvr>
                                        <p:cTn id="22" dur="3883" repeatCount="indefinite" autoRev="1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459 0.0471 E" pathEditMode="relative" rAng="0" ptsTypes="AA">
                                      <p:cBhvr>
                                        <p:cTn id="24" dur="5080" repeatCount="indefinite" autoRev="1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397 -0.0761 E" pathEditMode="relative" rAng="0" ptsTypes="AA">
                                      <p:cBhvr>
                                        <p:cTn id="26" dur="4029" repeatCount="indefinite" autoRev="1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380 0.0830 E" pathEditMode="relative" rAng="0" ptsTypes="AA">
                                      <p:cBhvr>
                                        <p:cTn id="28" dur="5263" repeatCount="indefinite" autoRev="1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583 -0.0350 E" pathEditMode="relative" rAng="0" ptsTypes="AA">
                                      <p:cBhvr>
                                        <p:cTn id="30" dur="4119" repeatCount="indefinite" autoRev="1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305 -0.0387 E" pathEditMode="relative" rAng="0" ptsTypes="AA">
                                      <p:cBhvr>
                                        <p:cTn id="32" dur="5689" repeatCount="indefinite" autoRev="1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383 0.0539 E" pathEditMode="relative" rAng="0" ptsTypes="AA">
                                      <p:cBhvr>
                                        <p:cTn id="34" dur="5114" repeatCount="indefinite" autoRev="1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227 -0.0564 E" pathEditMode="relative" rAng="0" ptsTypes="AA">
                                      <p:cBhvr>
                                        <p:cTn id="36" dur="3950" repeatCount="indefinite" autoRev="1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415 0.0668 E" pathEditMode="relative" rAng="0" ptsTypes="AA">
                                      <p:cBhvr>
                                        <p:cTn id="38" dur="3788" repeatCount="indefinite" autoRev="1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582 0.0584 E" pathEditMode="relative" rAng="0" ptsTypes="AA">
                                      <p:cBhvr>
                                        <p:cTn id="40" dur="3972" repeatCount="indefinite" autoRev="1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258 0.0744 E" pathEditMode="relative" rAng="0" ptsTypes="AA">
                                      <p:cBhvr>
                                        <p:cTn id="42" dur="5460" repeatCount="indefinite" autoRev="1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259 -0.0755 E" pathEditMode="relative" rAng="0" ptsTypes="AA">
                                      <p:cBhvr>
                                        <p:cTn id="44" dur="4720" repeatCount="indefinite" autoRev="1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342 -0.0620 E" pathEditMode="relative" rAng="0" ptsTypes="AA">
                                      <p:cBhvr>
                                        <p:cTn id="46" dur="5559" repeatCount="indefinite" autoRev="1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27 -0.0420 E" pathEditMode="relative" rAng="0" ptsTypes="AA">
                                      <p:cBhvr>
                                        <p:cTn id="48" dur="5518" repeatCount="indefinite" autoRev="1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9552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rPr dirty="0">
                <a:latin typeface="Amasis MT Pro Medium" panose="02040604050005020304" pitchFamily="18" charset="0"/>
              </a:rPr>
              <a:t>Client requirements and design response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1051560" cy="54864"/>
          </a:xfrm>
          <a:prstGeom prst="rect">
            <a:avLst/>
          </a:prstGeom>
          <a:solidFill>
            <a:srgbClr val="45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C7D8E9"/>
                </a:solidFill>
                <a:latin typeface="Arial"/>
              </a:defRPr>
            </a:pPr>
            <a:r>
              <a:t>The design focuses on secure, segmented connectivity and additional-floor coverage.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303520" cy="18288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73152" cy="1828800"/>
          </a:xfrm>
          <a:prstGeom prst="rect">
            <a:avLst/>
          </a:prstGeom>
          <a:solidFill>
            <a:srgbClr val="45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801368"/>
            <a:ext cx="4983480" cy="310896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B2A6B"/>
                </a:solidFill>
                <a:latin typeface="Arial"/>
              </a:defRPr>
            </a:pPr>
            <a:r>
              <a:t>Client needs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194560"/>
            <a:ext cx="4937759" cy="1261872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43040"/>
                </a:solidFill>
                <a:latin typeface="Arial"/>
              </a:defRPr>
            </a:pPr>
            <a:r>
              <a:rPr dirty="0"/>
              <a:t>• Connect staff, students and administration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43040"/>
                </a:solidFill>
                <a:latin typeface="Arial"/>
              </a:defRPr>
            </a:pPr>
            <a:r>
              <a:rPr dirty="0"/>
              <a:t>• Use 192.168.21.0/24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43040"/>
                </a:solidFill>
                <a:latin typeface="Arial"/>
              </a:defRPr>
            </a:pPr>
            <a:r>
              <a:rPr dirty="0"/>
              <a:t>• Provide local DHCP and DNS services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303520" cy="18288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691640"/>
            <a:ext cx="73152" cy="1828800"/>
          </a:xfrm>
          <a:prstGeom prst="rect">
            <a:avLst/>
          </a:prstGeom>
          <a:solidFill>
            <a:srgbClr val="22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801368"/>
            <a:ext cx="4983480" cy="31089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B2A6B"/>
                </a:solidFill>
                <a:latin typeface="Arial"/>
              </a:defRPr>
            </a:pPr>
            <a:r>
              <a:t>Assigned 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4937759" cy="126187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43040"/>
                </a:solidFill>
                <a:latin typeface="Arial"/>
              </a:defRPr>
            </a:pPr>
            <a:r>
              <a:rPr dirty="0"/>
              <a:t>• Wireless security: WPA2-PSK with AES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43040"/>
                </a:solidFill>
                <a:latin typeface="Arial"/>
              </a:defRPr>
            </a:pPr>
            <a:r>
              <a:rPr dirty="0"/>
              <a:t>• Add coverage to another floor/area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43040"/>
                </a:solidFill>
                <a:latin typeface="Arial"/>
              </a:defRPr>
            </a:pPr>
            <a:r>
              <a:rPr dirty="0"/>
              <a:t>• Minimise unnecessary Internet bandwidth 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94760"/>
            <a:ext cx="10881360" cy="141732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3794760"/>
            <a:ext cx="73152" cy="1417320"/>
          </a:xfrm>
          <a:prstGeom prst="rect">
            <a:avLst/>
          </a:prstGeom>
          <a:solidFill>
            <a:srgbClr val="248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3904488"/>
            <a:ext cx="10561320" cy="310896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B2A6B"/>
                </a:solidFill>
                <a:latin typeface="Arial"/>
              </a:defRPr>
            </a:pPr>
            <a:r>
              <a:t>Design approach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297680"/>
            <a:ext cx="10515600" cy="850392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43040"/>
                </a:solidFill>
                <a:latin typeface="Arial"/>
              </a:defRPr>
            </a:pPr>
            <a:r>
              <a:t>Router-on-a-stick routing, VLAN separation, a managed switch, local services and three wireless access points address the key requirements.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492240"/>
            <a:ext cx="7315200" cy="201168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C7D8E9"/>
                </a:solidFill>
                <a:latin typeface="Arial"/>
              </a:defRPr>
            </a:pPr>
            <a:r>
              <a:rPr dirty="0"/>
              <a:t>CMPG325 • Iketsetseng Private School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9552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rPr dirty="0">
                <a:latin typeface="Amasis MT Pro Medium" panose="02040604050005020304" pitchFamily="18" charset="0"/>
              </a:rPr>
              <a:t>Network topology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1051560" cy="54864"/>
          </a:xfrm>
          <a:prstGeom prst="rect">
            <a:avLst/>
          </a:prstGeom>
          <a:solidFill>
            <a:srgbClr val="45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" y="6492240"/>
            <a:ext cx="7315200" cy="201168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C7D8E9"/>
                </a:solidFill>
                <a:latin typeface="Arial"/>
              </a:defRPr>
            </a:pPr>
            <a:r>
              <a:rPr dirty="0"/>
              <a:t>CMPG325 • Iketsetseng Private School</a:t>
            </a:r>
          </a:p>
        </p:txBody>
      </p:sp>
      <p:sp>
        <p:nvSpPr>
          <p:cNvPr id="17" name="Topology Panel"/>
          <p:cNvSpPr/>
          <p:nvPr/>
        </p:nvSpPr>
        <p:spPr>
          <a:xfrm>
            <a:off x="73153" y="1203158"/>
            <a:ext cx="11250007" cy="506106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45B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1qesx</a:t>
            </a:r>
            <a:endParaRPr dirty="0"/>
          </a:p>
        </p:txBody>
      </p:sp>
      <p:pic>
        <p:nvPicPr>
          <p:cNvPr id="18" name="Network Topology" descr="Packet Tracer network topology: ISP cloud, R1-Edge router, SW-Core switch, SRV-DHCP-DNS server and three access points with lapto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0812" y="1435608"/>
            <a:ext cx="7372348" cy="45745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B6A1D1-7A15-224D-C7FD-C7FB887A1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250" y="2020824"/>
            <a:ext cx="3723350" cy="2403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288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9552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rPr dirty="0"/>
              <a:t> </a:t>
            </a:r>
            <a:r>
              <a:rPr dirty="0">
                <a:latin typeface="Amasis MT Pro Medium" panose="02040604050005020304" pitchFamily="18" charset="0"/>
              </a:rPr>
              <a:t>Network layout and IP addressing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1051560" cy="54864"/>
          </a:xfrm>
          <a:prstGeom prst="rect">
            <a:avLst/>
          </a:prstGeom>
          <a:solidFill>
            <a:srgbClr val="45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C7D8E9"/>
                </a:solidFill>
                <a:latin typeface="Arial"/>
              </a:defRPr>
            </a:pPr>
            <a:r>
              <a:t>VLANs separate logical groups and make the network easier to manage.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645920" cy="65836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45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rPr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R1-Edge</a:t>
            </a:r>
            <a:br>
              <a:rPr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</a:br>
            <a:r>
              <a:rPr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Router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600200"/>
            <a:ext cx="1737360" cy="658368"/>
          </a:xfrm>
          <a:prstGeom prst="roundRect">
            <a:avLst/>
          </a:prstGeom>
          <a:solidFill>
            <a:schemeClr val="accent1"/>
          </a:solidFill>
          <a:ln>
            <a:solidFill>
              <a:srgbClr val="45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B2A6B"/>
                </a:solidFill>
                <a:latin typeface="Arial"/>
              </a:defRPr>
            </a:pPr>
            <a:r>
              <a:rPr dirty="0">
                <a:solidFill>
                  <a:schemeClr val="bg1"/>
                </a:solidFill>
              </a:rPr>
              <a:t>SW-Core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Switch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097280"/>
            <a:ext cx="1920240" cy="640080"/>
          </a:xfrm>
          <a:prstGeom prst="roundRect">
            <a:avLst/>
          </a:prstGeom>
          <a:solidFill>
            <a:schemeClr val="accent1"/>
          </a:solidFill>
          <a:ln>
            <a:solidFill>
              <a:srgbClr val="45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chemeClr val="bg1"/>
                </a:solidFill>
              </a:rPr>
              <a:t>SRV-DHCP-DNS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148840"/>
            <a:ext cx="1920240" cy="640080"/>
          </a:xfrm>
          <a:prstGeom prst="roundRect">
            <a:avLst/>
          </a:prstGeom>
          <a:solidFill>
            <a:schemeClr val="accent1"/>
          </a:solidFill>
          <a:ln>
            <a:solidFill>
              <a:srgbClr val="45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chemeClr val="bg1"/>
                </a:solidFill>
              </a:rPr>
              <a:t>AP-Staff +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AP-Student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2148840"/>
            <a:ext cx="2057400" cy="640080"/>
          </a:xfrm>
          <a:prstGeom prst="roundRect">
            <a:avLst/>
          </a:prstGeom>
          <a:solidFill>
            <a:schemeClr val="accent1"/>
          </a:solidFill>
          <a:ln>
            <a:solidFill>
              <a:srgbClr val="45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chemeClr val="bg1"/>
                </a:solidFill>
              </a:rPr>
              <a:t>AP-Additional-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Floor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77440" y="1920240"/>
            <a:ext cx="914400" cy="0"/>
          </a:xfrm>
          <a:prstGeom prst="line">
            <a:avLst/>
          </a:prstGeom>
          <a:ln w="25400">
            <a:solidFill>
              <a:srgbClr val="45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5029200" y="1417320"/>
            <a:ext cx="1097280" cy="411480"/>
          </a:xfrm>
          <a:prstGeom prst="line">
            <a:avLst/>
          </a:prstGeom>
          <a:ln w="25400">
            <a:solidFill>
              <a:srgbClr val="45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29200" y="2011680"/>
            <a:ext cx="1097280" cy="457200"/>
          </a:xfrm>
          <a:prstGeom prst="line">
            <a:avLst/>
          </a:prstGeom>
          <a:ln w="25400">
            <a:solidFill>
              <a:srgbClr val="45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2468880"/>
            <a:ext cx="1005840" cy="0"/>
          </a:xfrm>
          <a:prstGeom prst="line">
            <a:avLst/>
          </a:prstGeom>
          <a:ln w="25400">
            <a:solidFill>
              <a:srgbClr val="45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2926080"/>
            <a:ext cx="10789920" cy="27432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Router-on-a-stick: VLAN subinterfaces route between internal networks.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891043"/>
              </p:ext>
            </p:extLst>
          </p:nvPr>
        </p:nvGraphicFramePr>
        <p:xfrm>
          <a:off x="822960" y="3337560"/>
          <a:ext cx="10515599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8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1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67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389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VLAN</a:t>
                      </a:r>
                    </a:p>
                  </a:txBody>
                  <a:tcPr marL="73152" marR="45720" marT="27432" marB="18288" anchor="ctr"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/>
                        <a:t>Purpose</a:t>
                      </a:r>
                    </a:p>
                  </a:txBody>
                  <a:tcPr marL="73152" marR="45720" marT="27432" marB="18288" anchor="ctr"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Network / mask</a:t>
                      </a:r>
                    </a:p>
                  </a:txBody>
                  <a:tcPr marL="73152" marR="45720" marT="27432" marB="18288" anchor="ctr"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Default gateway</a:t>
                      </a:r>
                    </a:p>
                  </a:txBody>
                  <a:tcPr marL="73152" marR="45720" marT="27432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3040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73152" marR="45720" marT="27432" marB="18288" anchor="ctr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3040"/>
                          </a:solidFill>
                          <a:latin typeface="Arial"/>
                        </a:defRPr>
                      </a:pPr>
                      <a:r>
                        <a:t>Staff</a:t>
                      </a:r>
                    </a:p>
                  </a:txBody>
                  <a:tcPr marL="73152" marR="45720" marT="27432" marB="18288" anchor="ctr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3040"/>
                          </a:solidFill>
                          <a:latin typeface="Arial"/>
                        </a:defRPr>
                      </a:pPr>
                      <a:r>
                        <a:t>192.168.21.0/26</a:t>
                      </a:r>
                    </a:p>
                  </a:txBody>
                  <a:tcPr marL="73152" marR="45720" marT="27432" marB="18288" anchor="ctr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3040"/>
                          </a:solidFill>
                          <a:latin typeface="Arial"/>
                        </a:defRPr>
                      </a:pPr>
                      <a:r>
                        <a:t>192.168.21.62</a:t>
                      </a:r>
                    </a:p>
                  </a:txBody>
                  <a:tcPr marL="73152" marR="45720" marT="27432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3040"/>
                          </a:solidFill>
                          <a:latin typeface="Arial"/>
                        </a:defRPr>
                      </a:pPr>
                      <a:r>
                        <a:t>20</a:t>
                      </a:r>
                    </a:p>
                  </a:txBody>
                  <a:tcPr marL="73152" marR="45720" marT="27432" marB="18288" anchor="ctr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3040"/>
                          </a:solidFill>
                          <a:latin typeface="Arial"/>
                        </a:defRPr>
                      </a:pPr>
                      <a:r>
                        <a:t>Students</a:t>
                      </a:r>
                    </a:p>
                  </a:txBody>
                  <a:tcPr marL="73152" marR="45720" marT="27432" marB="18288" anchor="ctr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3040"/>
                          </a:solidFill>
                          <a:latin typeface="Arial"/>
                        </a:defRPr>
                      </a:pPr>
                      <a:r>
                        <a:t>192.168.21.64/26</a:t>
                      </a:r>
                    </a:p>
                  </a:txBody>
                  <a:tcPr marL="73152" marR="45720" marT="27432" marB="18288" anchor="ctr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3040"/>
                          </a:solidFill>
                          <a:latin typeface="Arial"/>
                        </a:defRPr>
                      </a:pPr>
                      <a:r>
                        <a:t>192.168.21.126</a:t>
                      </a:r>
                    </a:p>
                  </a:txBody>
                  <a:tcPr marL="73152" marR="45720" marT="27432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3040"/>
                          </a:solidFill>
                          <a:latin typeface="Arial"/>
                        </a:defRPr>
                      </a:pPr>
                      <a:r>
                        <a:t>30</a:t>
                      </a:r>
                    </a:p>
                  </a:txBody>
                  <a:tcPr marL="73152" marR="45720" marT="27432" marB="18288" anchor="ctr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3040"/>
                          </a:solidFill>
                          <a:latin typeface="Arial"/>
                        </a:defRPr>
                      </a:pPr>
                      <a:r>
                        <a:t>Admin / Servers</a:t>
                      </a:r>
                    </a:p>
                  </a:txBody>
                  <a:tcPr marL="73152" marR="45720" marT="27432" marB="18288" anchor="ctr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3040"/>
                          </a:solidFill>
                          <a:latin typeface="Arial"/>
                        </a:defRPr>
                      </a:pPr>
                      <a:r>
                        <a:t>192.168.21.128/27</a:t>
                      </a:r>
                    </a:p>
                  </a:txBody>
                  <a:tcPr marL="73152" marR="45720" marT="27432" marB="18288" anchor="ctr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3040"/>
                          </a:solidFill>
                          <a:latin typeface="Arial"/>
                        </a:defRPr>
                      </a:pPr>
                      <a:r>
                        <a:t>192.168.21.158</a:t>
                      </a:r>
                    </a:p>
                  </a:txBody>
                  <a:tcPr marL="73152" marR="45720" marT="27432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3040"/>
                          </a:solidFill>
                          <a:latin typeface="Arial"/>
                        </a:defRPr>
                      </a:pPr>
                      <a:r>
                        <a:t>99</a:t>
                      </a:r>
                    </a:p>
                  </a:txBody>
                  <a:tcPr marL="73152" marR="45720" marT="27432" marB="18288" anchor="ctr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3040"/>
                          </a:solidFill>
                          <a:latin typeface="Arial"/>
                        </a:defRPr>
                      </a:pPr>
                      <a:r>
                        <a:t>Management</a:t>
                      </a:r>
                    </a:p>
                  </a:txBody>
                  <a:tcPr marL="73152" marR="45720" marT="27432" marB="18288" anchor="ctr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3040"/>
                          </a:solidFill>
                          <a:latin typeface="Arial"/>
                        </a:defRPr>
                      </a:pPr>
                      <a:r>
                        <a:t>192.168.21.192/28</a:t>
                      </a:r>
                    </a:p>
                  </a:txBody>
                  <a:tcPr marL="73152" marR="45720" marT="27432" marB="18288" anchor="ctr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3040"/>
                          </a:solidFill>
                          <a:latin typeface="Arial"/>
                        </a:defRPr>
                      </a:pPr>
                      <a:r>
                        <a:rPr dirty="0"/>
                        <a:t>192.168.21.193</a:t>
                      </a:r>
                    </a:p>
                  </a:txBody>
                  <a:tcPr marL="73152" marR="45720" marT="27432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21792" y="6492240"/>
            <a:ext cx="7315200" cy="201168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C7D8E9"/>
                </a:solidFill>
                <a:latin typeface="Arial"/>
              </a:defRPr>
            </a:pPr>
            <a:r>
              <a:rPr dirty="0"/>
              <a:t>CMPG325 • Iketsetseng Private School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9552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rPr dirty="0">
                <a:latin typeface="Amasis MT Pro Medium" panose="02040604050005020304" pitchFamily="18" charset="0"/>
              </a:rPr>
              <a:t>Wireless security and additional-floor coverage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1051560" cy="54864"/>
          </a:xfrm>
          <a:prstGeom prst="rect">
            <a:avLst/>
          </a:prstGeom>
          <a:solidFill>
            <a:srgbClr val="45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C7D8E9"/>
                </a:solidFill>
                <a:latin typeface="Arial"/>
              </a:defRPr>
            </a:pPr>
            <a:r>
              <a:t>The additional-floor change request was addressed with a third student access point.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45920"/>
            <a:ext cx="3611880" cy="187451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645920"/>
            <a:ext cx="73152" cy="1874519"/>
          </a:xfrm>
          <a:prstGeom prst="rect">
            <a:avLst/>
          </a:prstGeom>
          <a:solidFill>
            <a:srgbClr val="45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3291840" cy="310896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B2A6B"/>
                </a:solidFill>
                <a:latin typeface="Arial"/>
              </a:defRPr>
            </a:pPr>
            <a:r>
              <a:t>Staff Wi-Fi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3246120" cy="885371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43040"/>
                </a:solidFill>
                <a:latin typeface="Arial"/>
              </a:defRPr>
            </a:pPr>
            <a:r>
              <a:rPr dirty="0"/>
              <a:t>SSID: Ike</a:t>
            </a:r>
            <a:r>
              <a:rPr lang="en-GB" dirty="0"/>
              <a:t>tse</a:t>
            </a:r>
            <a:r>
              <a:rPr dirty="0"/>
              <a:t>tseng-Staff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43040"/>
                </a:solidFill>
                <a:latin typeface="Arial"/>
              </a:defRPr>
            </a:pPr>
            <a:r>
              <a:rPr dirty="0"/>
              <a:t>Security: WPA2-PSK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43040"/>
                </a:solidFill>
                <a:latin typeface="Arial"/>
              </a:defRPr>
            </a:pPr>
            <a:r>
              <a:rPr dirty="0"/>
              <a:t>Encryption: AES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45920"/>
            <a:ext cx="3611880" cy="187451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97680" y="1645920"/>
            <a:ext cx="73152" cy="1874519"/>
          </a:xfrm>
          <a:prstGeom prst="rect">
            <a:avLst/>
          </a:prstGeom>
          <a:solidFill>
            <a:srgbClr val="22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1755648"/>
            <a:ext cx="3291840" cy="310896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B2A6B"/>
                </a:solidFill>
                <a:latin typeface="Arial"/>
              </a:defRPr>
            </a:pPr>
            <a:r>
              <a:t>Student Wi-Fi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148840"/>
            <a:ext cx="3246120" cy="885371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43040"/>
                </a:solidFill>
                <a:latin typeface="Arial"/>
              </a:defRPr>
            </a:pPr>
            <a:r>
              <a:rPr dirty="0"/>
              <a:t>SSID: Ike</a:t>
            </a:r>
            <a:r>
              <a:rPr lang="en-GB" dirty="0"/>
              <a:t>tse</a:t>
            </a:r>
            <a:r>
              <a:rPr dirty="0"/>
              <a:t>tseng-Student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43040"/>
                </a:solidFill>
                <a:latin typeface="Arial"/>
              </a:defRPr>
            </a:pPr>
            <a:r>
              <a:rPr dirty="0"/>
              <a:t>Security: WPA2-PSK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43040"/>
                </a:solidFill>
                <a:latin typeface="Arial"/>
              </a:defRPr>
            </a:pPr>
            <a:r>
              <a:rPr dirty="0"/>
              <a:t>Encryption: AES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645920"/>
            <a:ext cx="3611880" cy="187451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01000" y="1645920"/>
            <a:ext cx="73152" cy="1874519"/>
          </a:xfrm>
          <a:prstGeom prst="rect">
            <a:avLst/>
          </a:prstGeom>
          <a:solidFill>
            <a:srgbClr val="248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9" y="1755648"/>
            <a:ext cx="3291840" cy="310896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B2A6B"/>
                </a:solidFill>
                <a:latin typeface="Arial"/>
              </a:defRPr>
            </a:pPr>
            <a:r>
              <a:rPr dirty="0"/>
              <a:t>Additional-floor Wi-Fi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148840"/>
            <a:ext cx="3246120" cy="885371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43040"/>
                </a:solidFill>
                <a:latin typeface="Arial"/>
              </a:defRPr>
            </a:pPr>
            <a:r>
              <a:rPr sz="1500" dirty="0"/>
              <a:t>SSID: Ike</a:t>
            </a:r>
            <a:r>
              <a:rPr lang="en-GB" sz="1500" dirty="0"/>
              <a:t>tse</a:t>
            </a:r>
            <a:r>
              <a:rPr sz="1500" dirty="0"/>
              <a:t>tseng-Student-Floor2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43040"/>
                </a:solidFill>
                <a:latin typeface="Arial"/>
              </a:defRPr>
            </a:pPr>
            <a:r>
              <a:rPr sz="1500" dirty="0"/>
              <a:t>Security: WPA2-PSK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43040"/>
                </a:solidFill>
                <a:latin typeface="Arial"/>
              </a:defRPr>
            </a:pPr>
            <a:r>
              <a:rPr sz="1500" dirty="0"/>
              <a:t>Encryption: AES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5303520" cy="141732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840480"/>
            <a:ext cx="73152" cy="1417320"/>
          </a:xfrm>
          <a:prstGeom prst="rect">
            <a:avLst/>
          </a:prstGeom>
          <a:solidFill>
            <a:srgbClr val="D98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59" y="3950208"/>
            <a:ext cx="4983480" cy="310896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B2A6B"/>
                </a:solidFill>
                <a:latin typeface="Arial"/>
              </a:defRPr>
            </a:pPr>
            <a:r>
              <a:t>Security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343400"/>
            <a:ext cx="4937759" cy="850392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43040"/>
                </a:solidFill>
                <a:latin typeface="Arial"/>
              </a:defRPr>
            </a:pPr>
            <a:r>
              <a:rPr dirty="0"/>
              <a:t>An incorrect Wi-Fi password caused the client to disconnect.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840480"/>
            <a:ext cx="5303520" cy="141732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3840480"/>
            <a:ext cx="73152" cy="1417320"/>
          </a:xfrm>
          <a:prstGeom prst="rect">
            <a:avLst/>
          </a:prstGeom>
          <a:solidFill>
            <a:srgbClr val="45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3950208"/>
            <a:ext cx="4983480" cy="310896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B2A6B"/>
                </a:solidFill>
                <a:latin typeface="Arial"/>
              </a:defRPr>
            </a:pPr>
            <a:r>
              <a:t>Coverage change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343400"/>
            <a:ext cx="4937759" cy="850392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43040"/>
                </a:solidFill>
                <a:latin typeface="Arial"/>
              </a:defRPr>
            </a:pPr>
            <a:r>
              <a:rPr dirty="0"/>
              <a:t>AP-Additional-Floor connects to SW-Core Fa0/4 in VLAN 20.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492240"/>
            <a:ext cx="7315200" cy="201168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C7D8E9"/>
                </a:solidFill>
                <a:latin typeface="Arial"/>
              </a:defRPr>
            </a:pPr>
            <a:r>
              <a:rPr dirty="0"/>
              <a:t>CMPG325 • Iketsetseng Private School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9552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rPr dirty="0">
                <a:latin typeface="Amasis MT Pro Medium" panose="02040604050005020304" pitchFamily="18" charset="0"/>
              </a:rPr>
              <a:t>Core configuration and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1051560" cy="54864"/>
          </a:xfrm>
          <a:prstGeom prst="rect">
            <a:avLst/>
          </a:prstGeom>
          <a:solidFill>
            <a:srgbClr val="45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C7D8E9"/>
                </a:solidFill>
                <a:latin typeface="Arial"/>
              </a:defRPr>
            </a:pPr>
            <a:r>
              <a:t>Central services support automatic addressing and local name resolution.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303520" cy="16002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73152" cy="1600200"/>
          </a:xfrm>
          <a:prstGeom prst="rect">
            <a:avLst/>
          </a:prstGeom>
          <a:solidFill>
            <a:srgbClr val="45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755648"/>
            <a:ext cx="4983480" cy="310896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B2A6B"/>
                </a:solidFill>
                <a:latin typeface="Arial"/>
              </a:defRPr>
            </a:pPr>
            <a:r>
              <a:t>DHCP on R1-Edge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148840"/>
            <a:ext cx="4937759" cy="1033271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43040"/>
                </a:solidFill>
                <a:latin typeface="Arial"/>
              </a:defRPr>
            </a:pPr>
            <a:r>
              <a:t>Pools: STAFF_POOL, STUDENT_POOL and ADMIN_POOL.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43040"/>
                </a:solidFill>
                <a:latin typeface="Arial"/>
              </a:defRPr>
            </a:pPr>
            <a:r>
              <a:t>Clients receive an IP address, gateway and DNS settings.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303520" cy="16002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73152" cy="1600200"/>
          </a:xfrm>
          <a:prstGeom prst="rect">
            <a:avLst/>
          </a:prstGeom>
          <a:solidFill>
            <a:srgbClr val="248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755648"/>
            <a:ext cx="4983480" cy="310896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B2A6B"/>
                </a:solidFill>
                <a:latin typeface="Arial"/>
              </a:defRPr>
            </a:pPr>
            <a:r>
              <a:t>Local DNS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48840"/>
            <a:ext cx="4937759" cy="1033271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43040"/>
                </a:solidFill>
                <a:latin typeface="Arial"/>
              </a:defRPr>
            </a:pPr>
            <a:r>
              <a:rPr dirty="0"/>
              <a:t>SRV-DHCP-DNS: 192.168.21.130/27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43040"/>
                </a:solidFill>
                <a:latin typeface="Arial"/>
              </a:defRPr>
            </a:pPr>
            <a:r>
              <a:rPr dirty="0"/>
              <a:t>Gateway: 192.168.21.158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43040"/>
                </a:solidFill>
                <a:latin typeface="Arial"/>
              </a:defRPr>
            </a:pPr>
            <a:r>
              <a:rPr dirty="0"/>
              <a:t>www.iketsetseng.local → 192.168.21.130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66160"/>
            <a:ext cx="5303520" cy="13716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3566160"/>
            <a:ext cx="73152" cy="1371600"/>
          </a:xfrm>
          <a:prstGeom prst="rect">
            <a:avLst/>
          </a:prstGeom>
          <a:solidFill>
            <a:srgbClr val="22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3675887"/>
            <a:ext cx="4983480" cy="310896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B2A6B"/>
                </a:solidFill>
                <a:latin typeface="Arial"/>
              </a:defRPr>
            </a:pPr>
            <a:r>
              <a:t>Switch configuration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069080"/>
            <a:ext cx="4937759" cy="804672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43040"/>
                </a:solidFill>
                <a:latin typeface="Arial"/>
              </a:defRPr>
            </a:pPr>
            <a:r>
              <a:t>VLANs 10, 20, 30 and 99. Gi0/1 is the 802.1Q trunk to R1-Edge.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566160"/>
            <a:ext cx="5303520" cy="13716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3566160"/>
            <a:ext cx="73152" cy="1371600"/>
          </a:xfrm>
          <a:prstGeom prst="rect">
            <a:avLst/>
          </a:prstGeom>
          <a:solidFill>
            <a:srgbClr val="D98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3675887"/>
            <a:ext cx="4983480" cy="310896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B2A6B"/>
                </a:solidFill>
                <a:latin typeface="Arial"/>
              </a:defRPr>
            </a:pPr>
            <a:r>
              <a:t>Bandwidth-conscious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069080"/>
            <a:ext cx="4937759" cy="804672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43040"/>
                </a:solidFill>
                <a:latin typeface="Arial"/>
              </a:defRPr>
            </a:pPr>
            <a:r>
              <a:t>Local services and internal traffic can stay within the school network, avoiding unnecessary Internet dependence.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492240"/>
            <a:ext cx="7315200" cy="201168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C7D8E9"/>
                </a:solidFill>
                <a:latin typeface="Arial"/>
              </a:defRPr>
            </a:pPr>
            <a:r>
              <a:rPr dirty="0"/>
              <a:t>CMPG325 • Iketsetseng Private School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9552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rPr lang="en-GB" dirty="0">
                <a:latin typeface="Amasis MT Pro Medium" panose="02040604050005020304" pitchFamily="18" charset="0"/>
              </a:rPr>
              <a:t> Key test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1051560" cy="54864"/>
          </a:xfrm>
          <a:prstGeom prst="rect">
            <a:avLst/>
          </a:prstGeom>
          <a:solidFill>
            <a:srgbClr val="45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C7D8E9"/>
                </a:solidFill>
                <a:latin typeface="Arial"/>
              </a:defRPr>
            </a:pPr>
            <a:r>
              <a:t>Screenshots from Packet Tracer confirming connectivity, VLAN trunking and local DNS.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6492240"/>
            <a:ext cx="7315200" cy="201168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C7D8E9"/>
                </a:solidFill>
                <a:latin typeface="Arial"/>
              </a:defRPr>
            </a:pPr>
            <a:r>
              <a:rPr dirty="0"/>
              <a:t>CMPG325 • Iketsetseng Private School</a:t>
            </a:r>
          </a:p>
        </p:txBody>
      </p:sp>
      <p:sp>
        <p:nvSpPr>
          <p:cNvPr id="100" name="Card 1"/>
          <p:cNvSpPr/>
          <p:nvPr/>
        </p:nvSpPr>
        <p:spPr>
          <a:xfrm>
            <a:off x="640080" y="1600200"/>
            <a:ext cx="5303520" cy="225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Card 1 accent"/>
          <p:cNvSpPr/>
          <p:nvPr/>
        </p:nvSpPr>
        <p:spPr>
          <a:xfrm>
            <a:off x="640080" y="1600200"/>
            <a:ext cx="73152" cy="2250000"/>
          </a:xfrm>
          <a:prstGeom prst="rect">
            <a:avLst/>
          </a:prstGeom>
          <a:solidFill>
            <a:srgbClr val="45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" name="Evidence 1" descr="Server to gateway: SRV-DHCP-DNS pings 192.168.21.158: 4 sent, 4 received, 0% loss."/>
          <p:cNvPicPr>
            <a:picLocks noChangeAspect="1"/>
          </p:cNvPicPr>
          <p:nvPr/>
        </p:nvPicPr>
        <p:blipFill>
          <a:blip r:embed="rId2"/>
          <a:srcRect t="23781" b="11150"/>
          <a:stretch>
            <a:fillRect/>
          </a:stretch>
        </p:blipFill>
        <p:spPr>
          <a:xfrm>
            <a:off x="830080" y="1994752"/>
            <a:ext cx="2850000" cy="1555448"/>
          </a:xfrm>
          <a:prstGeom prst="rect">
            <a:avLst/>
          </a:prstGeom>
          <a:ln w="9525">
            <a:solidFill>
              <a:srgbClr val="0B2A6B"/>
            </a:solidFill>
          </a:ln>
        </p:spPr>
      </p:pic>
      <p:sp>
        <p:nvSpPr>
          <p:cNvPr id="103" name="TextBox 102"/>
          <p:cNvSpPr txBox="1"/>
          <p:nvPr/>
        </p:nvSpPr>
        <p:spPr>
          <a:xfrm>
            <a:off x="3810080" y="1750200"/>
            <a:ext cx="204352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2A6B"/>
                </a:solidFill>
                <a:latin typeface="Arial"/>
              </a:rPr>
              <a:t>Server to gateway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810080" y="2250200"/>
            <a:ext cx="204352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43040"/>
                </a:solidFill>
                <a:latin typeface="Arial"/>
              </a:rPr>
              <a:t>SRV-DHCP-DNS pings 192.168.21.158: 4 sent, 4 received, 0% loss.</a:t>
            </a:r>
          </a:p>
        </p:txBody>
      </p:sp>
      <p:sp>
        <p:nvSpPr>
          <p:cNvPr id="5" name="Card 2"/>
          <p:cNvSpPr/>
          <p:nvPr/>
        </p:nvSpPr>
        <p:spPr>
          <a:xfrm>
            <a:off x="6217920" y="1600200"/>
            <a:ext cx="5303520" cy="225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ard 2 accent"/>
          <p:cNvSpPr/>
          <p:nvPr/>
        </p:nvSpPr>
        <p:spPr>
          <a:xfrm>
            <a:off x="6217920" y="1600200"/>
            <a:ext cx="73152" cy="2250000"/>
          </a:xfrm>
          <a:prstGeom prst="rect">
            <a:avLst/>
          </a:prstGeom>
          <a:solidFill>
            <a:srgbClr val="45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5" name="Evidence 2" descr="Server to VLAN gateways: Pings to 192.168.21.126 and 192.168.21.62 both reply 4/4 with 0% loss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7920" y="1700200"/>
            <a:ext cx="2612500" cy="2050000"/>
          </a:xfrm>
          <a:prstGeom prst="rect">
            <a:avLst/>
          </a:prstGeom>
          <a:ln w="9525">
            <a:solidFill>
              <a:srgbClr val="0B2A6B"/>
            </a:solidFill>
          </a:ln>
        </p:spPr>
      </p:pic>
      <p:sp>
        <p:nvSpPr>
          <p:cNvPr id="106" name="TextBox 105"/>
          <p:cNvSpPr txBox="1"/>
          <p:nvPr/>
        </p:nvSpPr>
        <p:spPr>
          <a:xfrm>
            <a:off x="9387920" y="1750200"/>
            <a:ext cx="204352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2A6B"/>
                </a:solidFill>
                <a:latin typeface="Arial"/>
              </a:rPr>
              <a:t>Server to VLAN gateways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387920" y="2250200"/>
            <a:ext cx="204352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43040"/>
                </a:solidFill>
                <a:latin typeface="Arial"/>
              </a:rPr>
              <a:t>Pings to 192.168.21.126 and 192.168.21.62 both reply 4/4 with 0% loss.</a:t>
            </a:r>
          </a:p>
        </p:txBody>
      </p:sp>
      <p:sp>
        <p:nvSpPr>
          <p:cNvPr id="7" name="Card 3"/>
          <p:cNvSpPr/>
          <p:nvPr/>
        </p:nvSpPr>
        <p:spPr>
          <a:xfrm>
            <a:off x="640080" y="3950000"/>
            <a:ext cx="5303520" cy="225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ard 3 accent"/>
          <p:cNvSpPr/>
          <p:nvPr/>
        </p:nvSpPr>
        <p:spPr>
          <a:xfrm>
            <a:off x="640080" y="3950000"/>
            <a:ext cx="73152" cy="2250000"/>
          </a:xfrm>
          <a:prstGeom prst="rect">
            <a:avLst/>
          </a:prstGeom>
          <a:solidFill>
            <a:srgbClr val="45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8" name="Evidence 3" descr="VLANs and trunk: SW-Core Gig0/1 is an 802.1Q trunk carrying VLANs 10, 20, 30 and 99, all active."/>
          <p:cNvPicPr>
            <a:picLocks noChangeAspect="1"/>
          </p:cNvPicPr>
          <p:nvPr/>
        </p:nvPicPr>
        <p:blipFill>
          <a:blip r:embed="rId4"/>
          <a:srcRect t="21952" b="2277"/>
          <a:stretch>
            <a:fillRect/>
          </a:stretch>
        </p:blipFill>
        <p:spPr>
          <a:xfrm>
            <a:off x="830080" y="4500000"/>
            <a:ext cx="2980000" cy="1553328"/>
          </a:xfrm>
          <a:prstGeom prst="rect">
            <a:avLst/>
          </a:prstGeom>
          <a:ln w="9525">
            <a:solidFill>
              <a:srgbClr val="0B2A6B"/>
            </a:solidFill>
          </a:ln>
        </p:spPr>
      </p:pic>
      <p:sp>
        <p:nvSpPr>
          <p:cNvPr id="109" name="TextBox 108"/>
          <p:cNvSpPr txBox="1"/>
          <p:nvPr/>
        </p:nvSpPr>
        <p:spPr>
          <a:xfrm>
            <a:off x="3810080" y="4100000"/>
            <a:ext cx="204352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2A6B"/>
                </a:solidFill>
                <a:latin typeface="Arial"/>
              </a:rPr>
              <a:t>VLANs and trunk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810080" y="4600000"/>
            <a:ext cx="204352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43040"/>
                </a:solidFill>
                <a:latin typeface="Arial"/>
              </a:rPr>
              <a:t>SW-Core Gig0/1 is an 802.1Q trunk carrying VLANs 10, 20, 30 and 99, all active.</a:t>
            </a:r>
          </a:p>
        </p:txBody>
      </p:sp>
      <p:sp>
        <p:nvSpPr>
          <p:cNvPr id="9" name="Card 4"/>
          <p:cNvSpPr/>
          <p:nvPr/>
        </p:nvSpPr>
        <p:spPr>
          <a:xfrm>
            <a:off x="6217920" y="3950000"/>
            <a:ext cx="5303520" cy="225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ard 4 accent"/>
          <p:cNvSpPr/>
          <p:nvPr/>
        </p:nvSpPr>
        <p:spPr>
          <a:xfrm>
            <a:off x="6217920" y="3950000"/>
            <a:ext cx="73152" cy="2250000"/>
          </a:xfrm>
          <a:prstGeom prst="rect">
            <a:avLst/>
          </a:prstGeom>
          <a:solidFill>
            <a:srgbClr val="45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1" name="Evidence 4" descr="Local DNS record: DNS service on: www.iketsetseng.local resolves to 192.168.21.130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7920" y="4223333"/>
            <a:ext cx="2850000" cy="1703333"/>
          </a:xfrm>
          <a:prstGeom prst="rect">
            <a:avLst/>
          </a:prstGeom>
          <a:ln w="9525">
            <a:solidFill>
              <a:srgbClr val="0B2A6B"/>
            </a:solidFill>
          </a:ln>
        </p:spPr>
      </p:pic>
      <p:sp>
        <p:nvSpPr>
          <p:cNvPr id="112" name="TextBox 111"/>
          <p:cNvSpPr txBox="1"/>
          <p:nvPr/>
        </p:nvSpPr>
        <p:spPr>
          <a:xfrm>
            <a:off x="9387920" y="4100000"/>
            <a:ext cx="204352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2A6B"/>
                </a:solidFill>
                <a:latin typeface="Arial"/>
              </a:rPr>
              <a:t>Local DNS record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387920" y="4600000"/>
            <a:ext cx="204352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43040"/>
                </a:solidFill>
                <a:latin typeface="Arial"/>
              </a:rPr>
              <a:t>DNS service on: www.iketsetseng.local resolves to 192.168.21.130.</a:t>
            </a:r>
          </a:p>
        </p:txBody>
      </p:sp>
    </p:spTree>
    <p:extLst>
      <p:ext uri="{BB962C8B-B14F-4D97-AF65-F5344CB8AC3E}">
        <p14:creationId xmlns:p14="http://schemas.microsoft.com/office/powerpoint/2010/main" val="2038310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9552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rPr lang="en-GB" dirty="0"/>
              <a:t> </a:t>
            </a:r>
            <a:r>
              <a:rPr dirty="0">
                <a:latin typeface="Amasis MT Pro Medium" panose="02040604050005020304" pitchFamily="18" charset="0"/>
              </a:rPr>
              <a:t>Testing and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1051560" cy="54864"/>
          </a:xfrm>
          <a:prstGeom prst="rect">
            <a:avLst/>
          </a:prstGeom>
          <a:solidFill>
            <a:srgbClr val="45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C7D8E9"/>
                </a:solidFill>
                <a:latin typeface="Arial"/>
              </a:defRPr>
            </a:pPr>
            <a:r>
              <a:t>Tests were performed in Packet Tracer using client command prompts and device CLI.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916620"/>
              </p:ext>
            </p:extLst>
          </p:nvPr>
        </p:nvGraphicFramePr>
        <p:xfrm>
          <a:off x="640080" y="1508760"/>
          <a:ext cx="1092707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42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2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3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/>
                        <a:t>Test</a:t>
                      </a:r>
                    </a:p>
                  </a:txBody>
                  <a:tcPr marL="73152" marR="45720" marT="27432" marB="18288" anchor="ctr"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Observed result</a:t>
                      </a:r>
                    </a:p>
                  </a:txBody>
                  <a:tcPr marL="73152" marR="45720" marT="27432" marB="18288" anchor="ctr"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73152" marR="45720" marT="27432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43040"/>
                          </a:solidFill>
                          <a:latin typeface="Arial"/>
                        </a:defRPr>
                      </a:pPr>
                      <a:r>
                        <a:t>Staff DHCP</a:t>
                      </a:r>
                    </a:p>
                  </a:txBody>
                  <a:tcPr marL="73152" marR="45720" marT="27432" marB="18288" anchor="ctr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43040"/>
                          </a:solidFill>
                          <a:latin typeface="Arial"/>
                        </a:defRPr>
                      </a:pPr>
                      <a:r>
                        <a:t>192.168.21.11</a:t>
                      </a:r>
                    </a:p>
                  </a:txBody>
                  <a:tcPr marL="73152" marR="45720" marT="27432" marB="18288" anchor="ctr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43040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 marL="73152" marR="45720" marT="27432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43040"/>
                          </a:solidFill>
                          <a:latin typeface="Arial"/>
                        </a:defRPr>
                      </a:pPr>
                      <a:r>
                        <a:t>Student DHCP</a:t>
                      </a:r>
                    </a:p>
                  </a:txBody>
                  <a:tcPr marL="73152" marR="45720" marT="27432" marB="18288" anchor="ctr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43040"/>
                          </a:solidFill>
                          <a:latin typeface="Arial"/>
                        </a:defRPr>
                      </a:pPr>
                      <a:r>
                        <a:t>192.168.21.75</a:t>
                      </a:r>
                    </a:p>
                  </a:txBody>
                  <a:tcPr marL="73152" marR="45720" marT="27432" marB="18288" anchor="ctr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43040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 marL="73152" marR="45720" marT="27432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43040"/>
                          </a:solidFill>
                          <a:latin typeface="Arial"/>
                        </a:defRPr>
                      </a:pPr>
                      <a:r>
                        <a:t>Additional-floor DHCP</a:t>
                      </a:r>
                    </a:p>
                  </a:txBody>
                  <a:tcPr marL="73152" marR="45720" marT="27432" marB="18288" anchor="ctr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43040"/>
                          </a:solidFill>
                          <a:latin typeface="Arial"/>
                        </a:defRPr>
                      </a:pPr>
                      <a:r>
                        <a:t>192.168.21.77</a:t>
                      </a:r>
                    </a:p>
                  </a:txBody>
                  <a:tcPr marL="73152" marR="45720" marT="27432" marB="18288" anchor="ctr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43040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 marL="73152" marR="45720" marT="27432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43040"/>
                          </a:solidFill>
                          <a:latin typeface="Arial"/>
                        </a:defRPr>
                      </a:pPr>
                      <a:r>
                        <a:t>Staff gateway / server</a:t>
                      </a:r>
                    </a:p>
                  </a:txBody>
                  <a:tcPr marL="73152" marR="45720" marT="27432" marB="18288" anchor="ctr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43040"/>
                          </a:solidFill>
                          <a:latin typeface="Arial"/>
                        </a:defRPr>
                      </a:pPr>
                      <a:r>
                        <a:t>4/4 replies to .62 and .130</a:t>
                      </a:r>
                    </a:p>
                  </a:txBody>
                  <a:tcPr marL="73152" marR="45720" marT="27432" marB="18288" anchor="ctr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43040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 marL="73152" marR="45720" marT="27432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43040"/>
                          </a:solidFill>
                          <a:latin typeface="Arial"/>
                        </a:defRPr>
                      </a:pPr>
                      <a:r>
                        <a:t>Student gateway / server</a:t>
                      </a:r>
                    </a:p>
                  </a:txBody>
                  <a:tcPr marL="73152" marR="45720" marT="27432" marB="18288" anchor="ctr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43040"/>
                          </a:solidFill>
                          <a:latin typeface="Arial"/>
                        </a:defRPr>
                      </a:pPr>
                      <a:r>
                        <a:t>4/4 replies to .126 and .130</a:t>
                      </a:r>
                    </a:p>
                  </a:txBody>
                  <a:tcPr marL="73152" marR="45720" marT="27432" marB="18288" anchor="ctr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43040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 marL="73152" marR="45720" marT="27432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43040"/>
                          </a:solidFill>
                          <a:latin typeface="Arial"/>
                        </a:defRPr>
                      </a:pPr>
                      <a:r>
                        <a:t>Additional-floor gateway / server</a:t>
                      </a:r>
                    </a:p>
                  </a:txBody>
                  <a:tcPr marL="73152" marR="45720" marT="27432" marB="18288" anchor="ctr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43040"/>
                          </a:solidFill>
                          <a:latin typeface="Arial"/>
                        </a:defRPr>
                      </a:pPr>
                      <a:r>
                        <a:t>4/4 replies to .126 and .130</a:t>
                      </a:r>
                    </a:p>
                  </a:txBody>
                  <a:tcPr marL="73152" marR="45720" marT="27432" marB="18288" anchor="ctr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43040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 marL="73152" marR="45720" marT="27432" marB="1828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43040"/>
                          </a:solidFill>
                          <a:latin typeface="Arial"/>
                        </a:defRPr>
                      </a:pPr>
                      <a:r>
                        <a:t>Local DNS</a:t>
                      </a:r>
                    </a:p>
                  </a:txBody>
                  <a:tcPr marL="73152" marR="45720" marT="27432" marB="18288" anchor="ctr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43040"/>
                          </a:solidFill>
                          <a:latin typeface="Arial"/>
                        </a:defRPr>
                      </a:pPr>
                      <a:r>
                        <a:rPr dirty="0"/>
                        <a:t>www.iketsetseng.local resolved to 192.168.21.130</a:t>
                      </a:r>
                    </a:p>
                  </a:txBody>
                  <a:tcPr marL="73152" marR="45720" marT="27432" marB="18288" anchor="ctr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43040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 marL="73152" marR="45720" marT="27432" marB="1828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43040"/>
                          </a:solidFill>
                          <a:latin typeface="Arial"/>
                        </a:defRPr>
                      </a:pPr>
                      <a:r>
                        <a:t>Wrong Wi-Fi password</a:t>
                      </a:r>
                    </a:p>
                  </a:txBody>
                  <a:tcPr marL="73152" marR="45720" marT="27432" marB="18288" anchor="ctr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43040"/>
                          </a:solidFill>
                          <a:latin typeface="Arial"/>
                        </a:defRPr>
                      </a:pPr>
                      <a:r>
                        <a:rPr dirty="0"/>
                        <a:t>Client disconnected from secured SSID</a:t>
                      </a:r>
                      <a:r>
                        <a:rPr lang="en-GB" dirty="0"/>
                        <a:t>  </a:t>
                      </a:r>
                      <a:endParaRPr dirty="0"/>
                    </a:p>
                  </a:txBody>
                  <a:tcPr marL="73152" marR="45720" marT="27432" marB="18288" anchor="ctr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43040"/>
                          </a:solidFill>
                          <a:latin typeface="Arial"/>
                        </a:defRPr>
                      </a:pPr>
                      <a:r>
                        <a:rPr dirty="0"/>
                        <a:t>PASS</a:t>
                      </a:r>
                    </a:p>
                  </a:txBody>
                  <a:tcPr marL="73152" marR="45720" marT="27432" marB="18288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792" y="6492240"/>
            <a:ext cx="7315200" cy="201168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C7D8E9"/>
                </a:solidFill>
                <a:latin typeface="Arial"/>
              </a:defRPr>
            </a:pPr>
            <a:r>
              <a:rPr dirty="0"/>
              <a:t>CMPG325 • Iketsetseng Private School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9552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rPr dirty="0">
                <a:latin typeface="Amasis MT Pro Medium" panose="02040604050005020304" pitchFamily="18" charset="0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1051560" cy="54864"/>
          </a:xfrm>
          <a:prstGeom prst="rect">
            <a:avLst/>
          </a:prstGeom>
          <a:solidFill>
            <a:srgbClr val="45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C7D8E9"/>
                </a:solidFill>
                <a:latin typeface="Arial"/>
              </a:defRPr>
            </a:pPr>
            <a:r>
              <a:t>The implementation addresses the main internal networking requirements in the project brief.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66360" cy="15087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73152" cy="1508760"/>
          </a:xfrm>
          <a:prstGeom prst="rect">
            <a:avLst/>
          </a:prstGeom>
          <a:solidFill>
            <a:srgbClr val="248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55648"/>
            <a:ext cx="4846320" cy="310896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B2A6B"/>
                </a:solidFill>
                <a:latin typeface="Arial"/>
              </a:defRPr>
            </a:pPr>
            <a:r>
              <a:t>What was achieved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800600" cy="941831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43040"/>
                </a:solidFill>
                <a:latin typeface="Arial"/>
              </a:defRPr>
            </a:pPr>
            <a:r>
              <a:t>• VLAN-based segmentation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43040"/>
                </a:solidFill>
                <a:latin typeface="Arial"/>
              </a:defRPr>
            </a:pPr>
            <a:r>
              <a:t>• DHCP address assignment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43040"/>
                </a:solidFill>
                <a:latin typeface="Arial"/>
              </a:defRPr>
            </a:pPr>
            <a:r>
              <a:t>• Local DNS resolution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66360" cy="15087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73152" cy="1508760"/>
          </a:xfrm>
          <a:prstGeom prst="rect">
            <a:avLst/>
          </a:prstGeom>
          <a:solidFill>
            <a:srgbClr val="45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755648"/>
            <a:ext cx="4846320" cy="310896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B2A6B"/>
                </a:solidFill>
                <a:latin typeface="Arial"/>
              </a:defRPr>
            </a:pPr>
            <a:r>
              <a:t>Assigned feature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48840"/>
            <a:ext cx="4800600" cy="941831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43040"/>
                </a:solidFill>
                <a:latin typeface="Arial"/>
              </a:defRPr>
            </a:pPr>
            <a:r>
              <a:t>• WPA2-PSK/AES on three SSIDs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43040"/>
                </a:solidFill>
                <a:latin typeface="Arial"/>
              </a:defRPr>
            </a:pPr>
            <a:r>
              <a:t>• Wrong-password rejection tested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43040"/>
                </a:solidFill>
                <a:latin typeface="Arial"/>
              </a:defRPr>
            </a:pPr>
            <a:r>
              <a:t>• Additional-floor AP added to VLAN 20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11880"/>
            <a:ext cx="10652760" cy="118872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3611880"/>
            <a:ext cx="73152" cy="1188720"/>
          </a:xfrm>
          <a:prstGeom prst="rect">
            <a:avLst/>
          </a:prstGeom>
          <a:solidFill>
            <a:srgbClr val="D98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721608"/>
            <a:ext cx="10332720" cy="310896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B2A6B"/>
                </a:solidFill>
                <a:latin typeface="Arial"/>
              </a:defRPr>
            </a:pPr>
            <a:r>
              <a:t>Limitation to report accurately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14800"/>
            <a:ext cx="10287000" cy="621792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43040"/>
                </a:solidFill>
                <a:latin typeface="Arial"/>
              </a:defRPr>
            </a:pPr>
            <a:r>
              <a:t>Local services and segmented traffic reduce avoidable Internet use. Public Internet reachability was not proven by the recorded tests.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257800"/>
            <a:ext cx="10515600" cy="741742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rPr sz="4400" dirty="0">
                <a:solidFill>
                  <a:schemeClr val="tx2">
                    <a:lumMod val="60000"/>
                    <a:lumOff val="40000"/>
                  </a:schemeClr>
                </a:solidFill>
                <a:latin typeface="Amasis MT Pro Medium" panose="02040604050005020304" pitchFamily="18" charset="0"/>
              </a:rPr>
              <a:t>Thank you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492240"/>
            <a:ext cx="7315200" cy="201168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C7D8E9"/>
                </a:solidFill>
                <a:latin typeface="Arial"/>
              </a:defRPr>
            </a:pPr>
            <a:r>
              <a:rPr dirty="0"/>
              <a:t>CMPG325 • Iketsetseng Private School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73952"/>
            <a:ext cx="457200" cy="218521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45BED2"/>
                </a:solidFill>
                <a:latin typeface="Arial"/>
              </a:defRPr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1161</TotalTime>
  <Words>672</Words>
  <Application>Microsoft Office PowerPoint</Application>
  <PresentationFormat>Widescreen</PresentationFormat>
  <Paragraphs>145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Amasis MT Pro Medium</vt:lpstr>
      <vt:lpstr>Aptos</vt:lpstr>
      <vt:lpstr>Arial</vt:lpstr>
      <vt:lpstr>Calibri</vt:lpstr>
      <vt:lpstr>Dreaming Outloud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Thando Nondu khumalo</dc:creator>
  <cp:keywords/>
  <dc:description>generated using python-pptx</dc:description>
  <cp:lastModifiedBy>N Khumalo</cp:lastModifiedBy>
  <cp:revision>9</cp:revision>
  <dcterms:created xsi:type="dcterms:W3CDTF">2013-01-27T09:14:16Z</dcterms:created>
  <dcterms:modified xsi:type="dcterms:W3CDTF">2026-10-16T06:05:14Z</dcterms:modified>
  <cp:category/>
</cp:coreProperties>
</file>